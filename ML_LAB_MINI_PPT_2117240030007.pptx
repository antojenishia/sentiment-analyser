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3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api.tiangolo.com/" TargetMode="External"/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&lt;SENTIMENT ANALYSIS OF SOCIAL MEDIA  COMMENTS USING SVM&gt;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71612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Anto Jenishia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4/27/2026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53820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i="1" dirty="0"/>
              <a:t>Introduction</a:t>
            </a:r>
          </a:p>
          <a:p>
            <a:r>
              <a:rPr lang="en-US" sz="2600" dirty="0"/>
              <a:t>Artificial Intelligence (AI) enables machines to perform human-like tasks such as learning and decision-making </a:t>
            </a:r>
          </a:p>
          <a:p>
            <a:r>
              <a:rPr lang="en-US" sz="2600" dirty="0"/>
              <a:t>Natural Language Processing (NLP) helps machines understand human language </a:t>
            </a:r>
          </a:p>
          <a:p>
            <a:r>
              <a:rPr lang="en-US" sz="2600" dirty="0"/>
              <a:t>Sentiment analysis identifies emotional tone in text data </a:t>
            </a:r>
          </a:p>
          <a:p>
            <a:r>
              <a:rPr lang="en-US" sz="2600" dirty="0"/>
              <a:t>Social media generates massive amounts of user opinions daily </a:t>
            </a:r>
          </a:p>
          <a:p>
            <a:r>
              <a:rPr lang="en-US" sz="2600" dirty="0"/>
              <a:t>Manual analysis is difficult → need for automated solutions </a:t>
            </a:r>
          </a:p>
          <a:p>
            <a:pPr marL="0" indent="0">
              <a:buNone/>
            </a:pPr>
            <a:r>
              <a:rPr lang="en-US" sz="2600" b="1" i="1" dirty="0"/>
              <a:t>Problem Statement</a:t>
            </a:r>
          </a:p>
          <a:p>
            <a:r>
              <a:rPr lang="en-US" sz="2600" dirty="0"/>
              <a:t>Classify social media comments into </a:t>
            </a:r>
            <a:r>
              <a:rPr lang="en-US" sz="2600" b="1" dirty="0"/>
              <a:t>positive, negative, and neutral sentiments</a:t>
            </a:r>
            <a:r>
              <a:rPr lang="en-US" sz="2600" dirty="0"/>
              <a:t> </a:t>
            </a:r>
          </a:p>
          <a:p>
            <a:r>
              <a:rPr lang="en-US" sz="2600" dirty="0"/>
              <a:t>Handle noisy, informal text (slang, emojis, abbreviations) </a:t>
            </a:r>
          </a:p>
          <a:p>
            <a:r>
              <a:rPr lang="en-US" sz="2600" dirty="0"/>
              <a:t>Provide not just prediction but also </a:t>
            </a:r>
            <a:r>
              <a:rPr lang="en-US" sz="2600" b="1" dirty="0"/>
              <a:t>confidence and insights</a:t>
            </a:r>
            <a:r>
              <a:rPr lang="en-US" sz="2600" dirty="0"/>
              <a:t> </a:t>
            </a:r>
          </a:p>
          <a:p>
            <a:pPr marL="0" indent="0">
              <a:buNone/>
            </a:pPr>
            <a:r>
              <a:rPr lang="en-US" sz="2600" b="1" i="1" dirty="0"/>
              <a:t>Goal</a:t>
            </a:r>
          </a:p>
          <a:p>
            <a:r>
              <a:rPr lang="en-US" sz="2600" dirty="0"/>
              <a:t>Develop an AI-based sentiment analysis system </a:t>
            </a:r>
          </a:p>
          <a:p>
            <a:r>
              <a:rPr lang="en-US" sz="2600" dirty="0"/>
              <a:t>Provide </a:t>
            </a:r>
            <a:r>
              <a:rPr lang="en-US" sz="2600" b="1" dirty="0"/>
              <a:t>accurate real-time predictions</a:t>
            </a:r>
            <a:r>
              <a:rPr lang="en-US" sz="2600" dirty="0"/>
              <a:t> </a:t>
            </a:r>
          </a:p>
          <a:p>
            <a:r>
              <a:rPr lang="en-US" sz="2600" dirty="0"/>
              <a:t>Generate </a:t>
            </a:r>
            <a:r>
              <a:rPr lang="en-US" sz="2600" b="1" dirty="0"/>
              <a:t>confidence scores and analytics</a:t>
            </a:r>
            <a:r>
              <a:rPr lang="en-US" sz="2600" dirty="0"/>
              <a:t> </a:t>
            </a:r>
          </a:p>
          <a:p>
            <a:r>
              <a:rPr lang="en-US" sz="2600" dirty="0"/>
              <a:t>Enable </a:t>
            </a:r>
            <a:r>
              <a:rPr lang="en-US" sz="2600" b="1" dirty="0"/>
              <a:t>batch processing and trend analysis</a:t>
            </a:r>
            <a:r>
              <a:rPr lang="en-US" sz="2600" dirty="0"/>
              <a:t> </a:t>
            </a:r>
          </a:p>
          <a:p>
            <a:r>
              <a:rPr lang="en-US" sz="2600" dirty="0"/>
              <a:t>Build a scalable web-based application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b="1" i="1" dirty="0"/>
              <a:t>Theoretical Background</a:t>
            </a:r>
          </a:p>
          <a:p>
            <a:r>
              <a:rPr lang="en-US" sz="2900" dirty="0"/>
              <a:t>Sentiment analysis is a </a:t>
            </a:r>
            <a:r>
              <a:rPr lang="en-US" sz="2900" b="1" dirty="0"/>
              <a:t>supervised machine learning problem</a:t>
            </a:r>
            <a:r>
              <a:rPr lang="en-US" sz="2900" dirty="0"/>
              <a:t> </a:t>
            </a:r>
          </a:p>
          <a:p>
            <a:r>
              <a:rPr lang="en-US" sz="2900" dirty="0"/>
              <a:t>Text is converted to numerical form using </a:t>
            </a:r>
            <a:r>
              <a:rPr lang="en-US" sz="2900" b="1" dirty="0"/>
              <a:t>TF-IDF</a:t>
            </a:r>
            <a:r>
              <a:rPr lang="en-US" sz="2900" dirty="0"/>
              <a:t> </a:t>
            </a:r>
          </a:p>
          <a:p>
            <a:r>
              <a:rPr lang="en-US" sz="2900" dirty="0"/>
              <a:t>TF-IDF captures importance of words in documents </a:t>
            </a:r>
          </a:p>
          <a:p>
            <a:r>
              <a:rPr lang="en-US" sz="2900" dirty="0"/>
              <a:t>Classification models used: </a:t>
            </a:r>
          </a:p>
          <a:p>
            <a:pPr lvl="1"/>
            <a:r>
              <a:rPr lang="en-US" sz="2900" dirty="0"/>
              <a:t>Logistic Regression </a:t>
            </a:r>
          </a:p>
          <a:p>
            <a:pPr lvl="1"/>
            <a:r>
              <a:rPr lang="en-US" sz="2900" dirty="0"/>
              <a:t>Support Vector Machine (SVM) </a:t>
            </a:r>
          </a:p>
          <a:p>
            <a:pPr lvl="1"/>
            <a:r>
              <a:rPr lang="en-US" sz="2900" dirty="0"/>
              <a:t>Naive Bayes </a:t>
            </a:r>
          </a:p>
          <a:p>
            <a:pPr marL="0" indent="0">
              <a:buNone/>
            </a:pPr>
            <a:r>
              <a:rPr lang="en-US" sz="2900" b="1" i="1" dirty="0"/>
              <a:t>Literature Survey</a:t>
            </a:r>
          </a:p>
          <a:p>
            <a:r>
              <a:rPr lang="en-US" sz="2900" dirty="0"/>
              <a:t>Classical ML models: </a:t>
            </a:r>
          </a:p>
          <a:p>
            <a:pPr lvl="1"/>
            <a:r>
              <a:rPr lang="en-US" sz="2900" dirty="0"/>
              <a:t>Fast, efficient, interpretable </a:t>
            </a:r>
          </a:p>
          <a:p>
            <a:r>
              <a:rPr lang="en-US" sz="2900" dirty="0"/>
              <a:t>Deep learning models (BERT, LSTM): </a:t>
            </a:r>
          </a:p>
          <a:p>
            <a:pPr lvl="1"/>
            <a:r>
              <a:rPr lang="en-US" sz="2900" dirty="0"/>
              <a:t>Higher accuracy but computationally expensive </a:t>
            </a:r>
          </a:p>
          <a:p>
            <a:r>
              <a:rPr lang="en-US" sz="2900" dirty="0"/>
              <a:t>Research shows SVM performs well for text classification </a:t>
            </a:r>
          </a:p>
          <a:p>
            <a:pPr marL="0" indent="0">
              <a:buNone/>
            </a:pPr>
            <a:r>
              <a:rPr lang="en-US" sz="2900" b="1" i="1" dirty="0"/>
              <a:t>Justification for Algorithm</a:t>
            </a:r>
          </a:p>
          <a:p>
            <a:r>
              <a:rPr lang="en-US" sz="2900" dirty="0"/>
              <a:t>SVM works well with </a:t>
            </a:r>
            <a:r>
              <a:rPr lang="en-US" sz="2900" b="1" dirty="0"/>
              <a:t>high-dimensional text data</a:t>
            </a:r>
            <a:r>
              <a:rPr lang="en-US" sz="2900" dirty="0"/>
              <a:t> </a:t>
            </a:r>
          </a:p>
          <a:p>
            <a:r>
              <a:rPr lang="en-US" sz="2900" dirty="0"/>
              <a:t>Provides </a:t>
            </a:r>
            <a:r>
              <a:rPr lang="en-US" sz="2900" b="1" dirty="0"/>
              <a:t>good generalization</a:t>
            </a:r>
            <a:r>
              <a:rPr lang="en-US" sz="2900" dirty="0"/>
              <a:t> </a:t>
            </a:r>
          </a:p>
          <a:p>
            <a:r>
              <a:rPr lang="en-US" sz="2900" dirty="0"/>
              <a:t>Efficient for small and medium datasets </a:t>
            </a:r>
          </a:p>
          <a:p>
            <a:r>
              <a:rPr lang="en-US" sz="2900" dirty="0"/>
              <a:t>Logistic Regression selected based on </a:t>
            </a:r>
            <a:r>
              <a:rPr lang="en-US" sz="2900" b="1" dirty="0"/>
              <a:t>best F1 score</a:t>
            </a:r>
            <a:endParaRPr lang="en-US" sz="29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92F9-E6A8-9165-1233-1384C217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B32A-6884-DADB-828C-F53524C4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F08CF-236F-14BF-634D-10454BE8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Algorithm Explanation with Example</a:t>
            </a:r>
          </a:p>
          <a:p>
            <a:r>
              <a:rPr lang="en-IN" sz="2200" dirty="0"/>
              <a:t>Step 1: Input text → preprocessing </a:t>
            </a:r>
          </a:p>
          <a:p>
            <a:r>
              <a:rPr lang="en-IN" sz="2200" dirty="0"/>
              <a:t>Step 2: Convert text → TF-IDF vector </a:t>
            </a:r>
          </a:p>
          <a:p>
            <a:r>
              <a:rPr lang="en-IN" sz="2200" dirty="0"/>
              <a:t>Step 3: Apply trained model → predict sentiment </a:t>
            </a:r>
          </a:p>
          <a:p>
            <a:r>
              <a:rPr lang="en-IN" sz="2200" dirty="0"/>
              <a:t>Example: </a:t>
            </a:r>
          </a:p>
          <a:p>
            <a:pPr lvl="1"/>
            <a:r>
              <a:rPr lang="en-IN" sz="2200" dirty="0"/>
              <a:t>“I love this product” → Positive </a:t>
            </a:r>
          </a:p>
          <a:p>
            <a:pPr lvl="1"/>
            <a:r>
              <a:rPr lang="en-IN" sz="2200" dirty="0"/>
              <a:t>“This is terrible” → Negative </a:t>
            </a:r>
          </a:p>
          <a:p>
            <a:r>
              <a:rPr lang="en-IN" sz="2200" dirty="0"/>
              <a:t>Output includes: </a:t>
            </a:r>
          </a:p>
          <a:p>
            <a:pPr lvl="1"/>
            <a:r>
              <a:rPr lang="en-IN" sz="2200" dirty="0"/>
              <a:t>Sentiment label </a:t>
            </a:r>
          </a:p>
          <a:p>
            <a:pPr lvl="1"/>
            <a:r>
              <a:rPr lang="en-IN" sz="2200" dirty="0"/>
              <a:t>Confidence score </a:t>
            </a:r>
          </a:p>
          <a:p>
            <a:pPr lvl="1"/>
            <a:r>
              <a:rPr lang="en-IN" sz="2200" dirty="0"/>
              <a:t>Probability distribution </a:t>
            </a:r>
          </a:p>
          <a:p>
            <a:pPr marL="457200" lvl="1" indent="0">
              <a:buNone/>
            </a:pPr>
            <a:endParaRPr lang="en-US" sz="20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F2D05-A28B-9AE5-5DB6-96BD58CD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D5687-0702-4182-5C9F-F11E9147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1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319994"/>
              </p:ext>
            </p:extLst>
          </p:nvPr>
        </p:nvGraphicFramePr>
        <p:xfrm>
          <a:off x="609600" y="2205222"/>
          <a:ext cx="11181348" cy="2016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64042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8117306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https://github.com/AntoJenishia/sentiment-analyser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https://github.com/AntoJenishia/sentiment-analyser/blob/main/AIML_AL23421_ML_MINI_PROJECT_2117240030007_IV.docx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https://github.com/AntoJenishia/sentiment-analyser/blob/main/</a:t>
                      </a:r>
                      <a:r>
                        <a:rPr lang="it-IT">
                          <a:solidFill>
                            <a:schemeClr val="tx1"/>
                          </a:solidFill>
                        </a:rPr>
                        <a:t>ML_LAB_MINI_PPT_2117240030007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pptx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A1F7BB-82E2-26EE-5547-D7E3F2D41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17" y="1135793"/>
            <a:ext cx="5428864" cy="27643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386840-34A7-94D4-3CD5-600E6D9B2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135793"/>
            <a:ext cx="5406190" cy="27643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FA79DA-430A-618D-31E2-1C9FF940C2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16" y="4002240"/>
            <a:ext cx="5428865" cy="27187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94884B-D9B5-A716-CCEB-493EEF281C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002755"/>
            <a:ext cx="5406190" cy="271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dirty="0"/>
              <a:t> Results and Future Enhancements</a:t>
            </a:r>
          </a:p>
          <a:p>
            <a:r>
              <a:rPr lang="en-IN" sz="2400" dirty="0"/>
              <a:t>The results of the project demonstrate that the SVM-based model is capable of accurately classifying sentiments in textual data, even with a relatively small dataset. </a:t>
            </a:r>
          </a:p>
          <a:p>
            <a:r>
              <a:rPr lang="en-IN" sz="2400" dirty="0"/>
              <a:t>The integration with </a:t>
            </a:r>
            <a:r>
              <a:rPr lang="en-IN" sz="2400" dirty="0" err="1"/>
              <a:t>FastAPI</a:t>
            </a:r>
            <a:r>
              <a:rPr lang="en-IN" sz="2400" dirty="0"/>
              <a:t> allows real-time predictions, making the system suitable for web-based applications. However, the performance can be further improved by using larger and more diverse datasets. </a:t>
            </a:r>
          </a:p>
          <a:p>
            <a:r>
              <a:rPr lang="en-IN" sz="2400" dirty="0"/>
              <a:t>Future enhancements include incorporating a neutral sentiment class, using advanced deep learning models such as BERT, improving text preprocessing techniques, and deploying the system on cloud platforms for scalability. </a:t>
            </a:r>
          </a:p>
          <a:p>
            <a:r>
              <a:rPr lang="en-IN" sz="2400" dirty="0"/>
              <a:t>Additionally, integrating real-time social media data streams can further enhance the practical applicability of the system.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Scikit-learn Documentation. </a:t>
            </a:r>
            <a:r>
              <a:rPr lang="en-IN" sz="2400" i="1" dirty="0"/>
              <a:t>Machine Learning in Python</a:t>
            </a:r>
            <a:r>
              <a:rPr lang="en-IN" sz="2400" dirty="0"/>
              <a:t>. Available at: </a:t>
            </a:r>
            <a:r>
              <a:rPr lang="en-IN" sz="2400" u="sng" dirty="0">
                <a:hlinkClick r:id="rId2"/>
              </a:rPr>
              <a:t>https://scikit-learn.org</a:t>
            </a:r>
            <a:r>
              <a:rPr lang="en-US" sz="2400" dirty="0"/>
              <a:t> </a:t>
            </a:r>
            <a:endParaRPr lang="en-IN" sz="2400" dirty="0"/>
          </a:p>
          <a:p>
            <a:pPr lvl="0"/>
            <a:r>
              <a:rPr lang="en-IN" sz="2400" dirty="0" err="1"/>
              <a:t>FastAPI</a:t>
            </a:r>
            <a:r>
              <a:rPr lang="en-IN" sz="2400" dirty="0"/>
              <a:t> Documentation. </a:t>
            </a:r>
            <a:r>
              <a:rPr lang="en-IN" sz="2400" i="1" dirty="0"/>
              <a:t>Modern, Fast Web Framework for Building APIs</a:t>
            </a:r>
            <a:r>
              <a:rPr lang="en-IN" sz="2400" dirty="0"/>
              <a:t>. Available at: </a:t>
            </a:r>
            <a:r>
              <a:rPr lang="en-IN" sz="2400" u="sng" dirty="0">
                <a:hlinkClick r:id="rId3"/>
              </a:rPr>
              <a:t>https://fastapi.tiangolo.com</a:t>
            </a:r>
            <a:r>
              <a:rPr lang="en-US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Jurafsky, D., &amp; Martin, J. H. (2023). </a:t>
            </a:r>
            <a:r>
              <a:rPr lang="en-IN" sz="2400" i="1" dirty="0"/>
              <a:t>Speech and Language Processing</a:t>
            </a:r>
            <a:r>
              <a:rPr lang="en-IN" sz="2400" dirty="0"/>
              <a:t>. Pearson. </a:t>
            </a:r>
          </a:p>
          <a:p>
            <a:pPr lvl="0"/>
            <a:r>
              <a:rPr lang="en-IN" sz="2400" dirty="0"/>
              <a:t>Kaggle. </a:t>
            </a:r>
            <a:r>
              <a:rPr lang="en-IN" sz="2400" i="1" dirty="0"/>
              <a:t>Sentiment Analysis Datasets and Tutorials</a:t>
            </a:r>
            <a:r>
              <a:rPr lang="en-IN" sz="2400" dirty="0"/>
              <a:t>. Available at: </a:t>
            </a:r>
            <a:r>
              <a:rPr lang="en-IN" sz="2400" u="sng" dirty="0">
                <a:hlinkClick r:id="rId4"/>
              </a:rPr>
              <a:t>https://www.kaggle.com</a:t>
            </a:r>
            <a:r>
              <a:rPr lang="en-US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Manning, C. D., Raghavan, P., &amp; Schütze, H. (2008). </a:t>
            </a:r>
            <a:r>
              <a:rPr lang="en-IN" sz="2400" i="1" dirty="0"/>
              <a:t>Introduction to Information Retrieval</a:t>
            </a:r>
            <a:r>
              <a:rPr lang="en-IN" sz="2400" dirty="0"/>
              <a:t>. Cambridge University Press. </a:t>
            </a:r>
          </a:p>
          <a:p>
            <a:pPr lvl="0"/>
            <a:r>
              <a:rPr lang="en-IN" sz="2400" dirty="0"/>
              <a:t>Pedregosa, F., et al. (2011). </a:t>
            </a:r>
            <a:r>
              <a:rPr lang="en-IN" sz="2400" i="1" dirty="0"/>
              <a:t>Scikit-learn: Machine Learning in Python</a:t>
            </a:r>
            <a:r>
              <a:rPr lang="en-IN" sz="2400" dirty="0"/>
              <a:t>. Journal of Machine Learning Research, 12, 2825–2830. </a:t>
            </a:r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689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&lt;SENTIMENT ANALYSIS OF SOCIAL MEDIA  COMMENTS USING SVM&gt;</vt:lpstr>
      <vt:lpstr>PROBLEM STATEMENT</vt:lpstr>
      <vt:lpstr>THEORETICAL BACKGROUND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 Jenishia A</dc:creator>
  <cp:lastModifiedBy>antojenishia8493@gmail.com</cp:lastModifiedBy>
  <cp:revision>7</cp:revision>
  <dcterms:created xsi:type="dcterms:W3CDTF">2025-10-18T08:57:34Z</dcterms:created>
  <dcterms:modified xsi:type="dcterms:W3CDTF">2026-04-27T03:24:01Z</dcterms:modified>
</cp:coreProperties>
</file>